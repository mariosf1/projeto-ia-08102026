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italic r:id="rId14"/>
    </p:embeddedFont>
    <p:embeddedFont>
      <p:font typeface="JetBrains Mono"/>
      <p:regular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30885"/>
            <a:ext cx="6858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00784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DM Sans"/>
              </a:rPr>
              <a:t>ARQUITETURA DE SOFTWARE &amp;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60265"/>
            <a:ext cx="11251406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GastoCerto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9335"/>
            <a:ext cx="75247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DM Sans"/>
              </a:rPr>
              <a:t>Agente Pessoal de Gestão Financeira com API Gemini, Engenharia de Prompts, DDD e Frontend Orientado a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49985"/>
            <a:ext cx="49628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DM Sans"/>
              </a:rPr>
              <a:t>Mario Ferreira</a:t>
            </a:r>
            <a:r>
              <a:rPr lang="pt-BR" sz="1200" b="0" i="0" u="none" dirty="0">
                <a:solidFill>
                  <a:srgbClr val="64748B"/>
                </a:solidFill>
                <a:latin typeface="DM Sans"/>
              </a:rPr>
              <a:t> | Maicon Cruz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• github.com/MarioSF1/projeto-ia-08102026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3454449" cy="2085975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43212"/>
            <a:ext cx="3454449" cy="2085975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43212"/>
            <a:ext cx="3454449" cy="2085975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86112"/>
            <a:ext cx="4286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49" y="3186112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186112"/>
            <a:ext cx="3905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PROPOSTA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 que é o GastoCerto 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19512"/>
            <a:ext cx="38338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Linguagem 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29087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Registro conversacional de despesas diárias.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5549" y="3719512"/>
            <a:ext cx="38338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Classificação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5549" y="4129087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Categorização automática via Google Gemini.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99" y="3719512"/>
            <a:ext cx="37972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Controle de Metas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799" y="4129087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Monitoramento de teto mensal em tempo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504950"/>
            <a:ext cx="71628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EXPERIÊNCIA DO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Agente Conversacional Integrado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00325"/>
            <a:ext cx="35242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O usuário envia uma frase simples e o agente interpreta, persiste o lançamento e analisa o orçamento.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337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Extração: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Valor, data, categoria e anotação.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2432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Alerta de Teto: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Aviso imediato de orçamento excedido.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148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Dica Proativa: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Prevenção de duplicidade na fatura.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DEFE48-6562-5F93-D4C2-5C4EF2346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285008"/>
            <a:ext cx="7162800" cy="3411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4950"/>
            <a:ext cx="71628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VISÃO ESTRUTURADA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Tabela de Gastos 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3400" y="2600325"/>
            <a:ext cx="35242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Sincronia total entre os lançamentos via chat e o gerenciamento manual em tabela.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0" y="35337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Categoria Automática: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IA classifica quando deixada em branco.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0" y="412432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Insights do Mês: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Botão dedicado para análises financeiras.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4714875"/>
            <a:ext cx="352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Visão Híbrida: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Modos Chat, Tabela ou Lado a Lado.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1875CF4-DC18-41EE-9839-19426FD1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67004"/>
            <a:ext cx="7162800" cy="3390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51883"/>
            <a:ext cx="609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468016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DM Sans"/>
              </a:rPr>
              <a:t>PILAR 01 •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20441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Integração com API Gemini &amp; Prompt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86000"/>
            <a:ext cx="5372100" cy="1485900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286000"/>
            <a:ext cx="5372100" cy="1485900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00500"/>
            <a:ext cx="5372100" cy="1485900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00500"/>
            <a:ext cx="5372100" cy="1485900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5270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552700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6720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267200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INTEGRAÇÃO COM A API DO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Resiliência e Múltiplas Capacidades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3370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Fallback Automático de 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76600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Alternância transparente entre modelos Flash-Lite e Flash.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933700"/>
            <a:ext cx="5715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Extração de Dados Estruturados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27660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Conversão de texto livre em payload validado.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64820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Inferência de Categoria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91100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Classificação automática no formulário manual de gastos.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48200"/>
            <a:ext cx="5715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Consultoria Contextual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99110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Geração de insights mensais sobre hábitos de consumo.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5612"/>
            <a:ext cx="2600325" cy="1781175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95612"/>
            <a:ext cx="2600325" cy="1781175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95612"/>
            <a:ext cx="2600325" cy="1781175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95612"/>
            <a:ext cx="2600325" cy="1781175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Pipeline de Construção do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262312"/>
            <a:ext cx="2726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D9488"/>
                </a:solidFill>
                <a:latin typeface="DM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29037"/>
            <a:ext cx="286285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System Persona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052887"/>
            <a:ext cx="2276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Papel de consultor financeiro objetivo.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9975" y="3262312"/>
            <a:ext cx="2726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D9488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9975" y="3729037"/>
            <a:ext cx="286285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Injeção de 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975" y="4052887"/>
            <a:ext cx="2276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Data atual, meta mensal e total acumulado.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62312"/>
            <a:ext cx="2726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D9488"/>
                </a:solidFill>
                <a:latin typeface="DM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9037"/>
            <a:ext cx="286285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Regras de Domínio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52887"/>
            <a:ext cx="2276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Categorias válidas e cálculo de teto.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1625" y="3262312"/>
            <a:ext cx="272653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D9488"/>
                </a:solidFill>
                <a:latin typeface="DM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1625" y="3729037"/>
            <a:ext cx="286285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Output Estruturado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4052887"/>
            <a:ext cx="2276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Resposta formatada mais ação de registro.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5600"/>
            <a:ext cx="52959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781300"/>
            <a:ext cx="5295900" cy="2209800"/>
          </a:xfrm>
          <a:prstGeom prst="roundRect">
            <a:avLst>
              <a:gd name="adj" fmla="val 689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ENGENHARIA DE PROMPTS NA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Da Frase Natural à Ação no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61507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Entrada + Estado Injetado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086100"/>
            <a:ext cx="5600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5F46"/>
                </a:solidFill>
                <a:latin typeface="Space Grotesk"/>
              </a:rPr>
              <a:t>Saída Determinística do 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9500"/>
            <a:ext cx="5857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Mensagem: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"Paguei meu cartão hoje R$ 1300"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1450"/>
            <a:ext cx="5857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Contexto Temporal: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13/10/2026 (Outubro/2026)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5857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Estado do Orçamento: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Limite R$ 1.500 | Prévio R$ 676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50520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DM Sans"/>
              </a:rPr>
              <a:t>Persistência:</a:t>
            </a:r>
            <a:r>
              <a:rPr sz="1350" b="0" i="0" u="none">
                <a:solidFill>
                  <a:srgbClr val="064E3B"/>
                </a:solidFill>
                <a:latin typeface="DM Sans"/>
              </a:rPr>
              <a:t> R$ 1.300,00 em </a:t>
            </a:r>
            <a:r>
              <a:rPr sz="1350" b="0" i="1" u="none">
                <a:solidFill>
                  <a:srgbClr val="064E3B"/>
                </a:solidFill>
                <a:latin typeface="DM Sans"/>
              </a:rPr>
              <a:t>Outros</a:t>
            </a:r>
            <a:r>
              <a:rPr sz="1350" b="0" i="0" u="none">
                <a:solidFill>
                  <a:srgbClr val="064E3B"/>
                </a:solidFill>
                <a:latin typeface="DM Sans"/>
              </a:rPr>
              <a:t> (13/10/2026)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86715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DM Sans"/>
              </a:rPr>
              <a:t>Cálculo de Alerta:</a:t>
            </a:r>
            <a:r>
              <a:rPr sz="1350" b="0" i="0" u="none">
                <a:solidFill>
                  <a:srgbClr val="064E3B"/>
                </a:solidFill>
                <a:latin typeface="DM Sans"/>
              </a:rPr>
              <a:t> Total R$ 1.976 (132% utilizado)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22910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DM Sans"/>
              </a:rPr>
              <a:t>Heurística:</a:t>
            </a:r>
            <a:r>
              <a:rPr sz="1350" b="0" i="0" u="none">
                <a:solidFill>
                  <a:srgbClr val="064E3B"/>
                </a:solidFill>
                <a:latin typeface="DM Sans"/>
              </a:rPr>
              <a:t> Alerta sobre duplicidade de compras do cartão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66962"/>
            <a:ext cx="10972800" cy="30384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366962"/>
          <a:ext cx="10972798" cy="3038475"/>
        </p:xfrm>
        <a:graphic>
          <a:graphicData uri="http://schemas.openxmlformats.org/drawingml/2006/table">
            <a:tbl>
              <a:tblPr/>
              <a:tblGrid>
                <a:gridCol w="2220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Camada DDD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Elementos Principais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Responsabilidade no Projeto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D9488"/>
                          </a:solidFill>
                          <a:latin typeface="DM Sans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Entidades, Value Objects, Contratos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Regras de gastos, categorias e metas mensais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366F1"/>
                          </a:solidFill>
                          <a:latin typeface="DM Sans"/>
                        </a:rPr>
                        <a:t>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Use Cases, DTOs, Orquestrador 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Fluxo do chat, montagem de contexto e comandos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97706"/>
                          </a:solidFill>
                          <a:latin typeface="DM Sans"/>
                        </a:rPr>
                        <a:t>Infrastructure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Gemini Client, Repositórios, Banco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Integração externa com SDK Gemini e persistência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Presentation /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Controllers, Rotas, Middlewares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Exposição REST segura para o 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PILAR 02 • ARQUITETURA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Organização com Domain-Driven Design (DDD)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19400"/>
            <a:ext cx="20955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62325"/>
            <a:ext cx="209550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05250"/>
            <a:ext cx="209550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24400"/>
            <a:ext cx="238125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DESACOPLAMENTO E MANUTENIBILIDADE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Por que DDD em um Sistema com 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95587"/>
            <a:ext cx="11582400" cy="27622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DM Sans"/>
              </a:rPr>
              <a:t>Domínio Protegido: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A regra financeira não depende diretamente da SDK do Google Gemini.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38512"/>
            <a:ext cx="11582400" cy="27622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DM Sans"/>
              </a:rPr>
              <a:t>Estratégia de Fallback Isolada: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A troca entre modelos ocorre na infraestrutura sem afetar os casos de uso.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81437"/>
            <a:ext cx="11068050" cy="5524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DM Sans"/>
              </a:rPr>
              <a:t>Alta Testabilidade: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Regras de orçamento e prompts podem ser testados com mocks de forma determinística.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00587"/>
            <a:ext cx="11582400" cy="276225"/>
          </a:xfrm>
          <a:prstGeom prst="rect">
            <a:avLst/>
          </a:prstGeom>
          <a:noFill/>
        </p:spPr>
        <p:txBody>
          <a:bodyPr wrap="none" lIns="3905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DM Sans"/>
              </a:rPr>
              <a:t>Linguagem Ubíqua: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Termos como </a:t>
            </a:r>
            <a:r>
              <a:rPr sz="1650" b="0" i="1" u="none">
                <a:solidFill>
                  <a:srgbClr val="1E293B"/>
                </a:solidFill>
                <a:latin typeface="DM Sans"/>
              </a:rPr>
              <a:t>Gasto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, </a:t>
            </a:r>
            <a:r>
              <a:rPr sz="1650" b="0" i="1" u="none">
                <a:solidFill>
                  <a:srgbClr val="1E293B"/>
                </a:solidFill>
                <a:latin typeface="DM Sans"/>
              </a:rPr>
              <a:t>Meta Mensal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e </a:t>
            </a:r>
            <a:r>
              <a:rPr sz="1650" b="0" i="1" u="none">
                <a:solidFill>
                  <a:srgbClr val="1E293B"/>
                </a:solidFill>
                <a:latin typeface="DM Sans"/>
              </a:rPr>
              <a:t>Categoria</a:t>
            </a:r>
            <a:r>
              <a:rPr sz="1650" b="0" i="0" u="none">
                <a:solidFill>
                  <a:srgbClr val="1E293B"/>
                </a:solidFill>
                <a:latin typeface="DM Sans"/>
              </a:rPr>
              <a:t> guiam código e prompts.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0800"/>
            <a:ext cx="4538472" cy="2731008"/>
          </a:xfrm>
          <a:prstGeom prst="roundRect">
            <a:avLst>
              <a:gd name="adj" fmla="val 51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DM Sans"/>
              </a:rPr>
              <a:t>PILAR 03 • ARQUITETURA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Frontend Orientado a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96" y="2763780"/>
            <a:ext cx="3943350" cy="229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src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>
              <a:lnSpc>
                <a:spcPts val="1800"/>
              </a:lnSpc>
            </a:pPr>
            <a:r>
              <a:rPr lang="pt-BR" sz="1200" dirty="0">
                <a:solidFill>
                  <a:srgbClr val="A7F3D0"/>
                </a:solidFill>
                <a:latin typeface="JetBrains Mono"/>
              </a:rPr>
              <a:t>├── app/</a:t>
            </a:r>
            <a:endParaRPr lang="pt-BR" sz="1200" b="0" i="0" u="none" dirty="0">
              <a:solidFill>
                <a:srgbClr val="A7F3D0"/>
              </a:solidFill>
              <a:latin typeface="JetBrains Mono"/>
            </a:endParaRP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├──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presentation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│     ├──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agent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-chat/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│     ├──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expenses-table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│     ├── budget-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summary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│      └──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auth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└──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shared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       ├──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components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</a:p>
          <a:p>
            <a:pPr algn="l">
              <a:lnSpc>
                <a:spcPts val="1800"/>
              </a:lnSpc>
            </a:pP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         └── </a:t>
            </a:r>
            <a:r>
              <a:rPr lang="pt-BR" sz="1200" b="0" i="0" u="none" dirty="0" err="1">
                <a:solidFill>
                  <a:srgbClr val="A7F3D0"/>
                </a:solidFill>
                <a:latin typeface="JetBrains Mono"/>
              </a:rPr>
              <a:t>services</a:t>
            </a:r>
            <a:r>
              <a:rPr lang="pt-BR" sz="1200" b="0" i="0" u="none" dirty="0">
                <a:solidFill>
                  <a:srgbClr val="A7F3D0"/>
                </a:solidFill>
                <a:latin typeface="JetBrains Mono"/>
              </a:rPr>
              <a:t>/</a:t>
            </a:r>
            <a:endParaRPr sz="1200" b="0" i="0" u="none" dirty="0">
              <a:solidFill>
                <a:srgbClr val="A7F3D0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72100" y="3067050"/>
            <a:ext cx="63055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Código agrupado por funcionalidade de negócio em vez de pastas técnicas genéricas.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100" y="3752850"/>
            <a:ext cx="68199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Alta Coesão: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Componentes, hooks e serviços juntos por domínio.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2100" y="4114800"/>
            <a:ext cx="68199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Composição Flexível: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Facilita a "Visão Lado a Lado" unindo Chat e Tabela.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4476750"/>
            <a:ext cx="68199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Escalabilidade: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Novas features não poluem módulos existentes.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58307" y="2633662"/>
            <a:ext cx="3075384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646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DM Sans</vt:lpstr>
      <vt:lpstr>JetBrains Mono</vt:lpstr>
      <vt:lpstr>Calibri</vt:lpstr>
      <vt:lpstr>Space Grotesk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Mário Ferreira</cp:lastModifiedBy>
  <cp:revision>6</cp:revision>
  <dcterms:created xsi:type="dcterms:W3CDTF">2013-01-27T09:14:16Z</dcterms:created>
  <dcterms:modified xsi:type="dcterms:W3CDTF">2026-10-14T00:39:09Z</dcterms:modified>
  <cp:category/>
</cp:coreProperties>
</file>